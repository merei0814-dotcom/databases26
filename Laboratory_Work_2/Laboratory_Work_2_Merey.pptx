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latin typeface="Arial"/>
              </a:defRPr>
            </a:pPr>
            <a:r>
              <a:t>Laboratory Work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3444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0">
                <a:latin typeface="Arial"/>
              </a:defRPr>
            </a:pPr>
            <a:r>
              <a:t>Normalization and DDL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01168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latin typeface="Arial"/>
              </a:defRPr>
            </a:pPr>
            <a:r>
              <a:t>Course: Databases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5146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latin typeface="Arial"/>
              </a:defRPr>
            </a:pPr>
            <a:r>
              <a:t>Student: Merey Mukhametkali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01752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latin typeface="Arial"/>
              </a:defRPr>
            </a:pPr>
            <a:r>
              <a:t>Date: September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latin typeface="Arial"/>
              </a:defRPr>
            </a:pPr>
            <a:r>
              <a:t>Task 1. Initial Normal Form Violation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3444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latin typeface="Arial"/>
              </a:defRPr>
            </a:pPr>
            <a:r>
              <a:t>Original relation:</a:t>
            </a:r>
            <a:br/>
            <a:r>
              <a:t>Booking_receipt(booking_id, passenger_full_name, passenger_passport_number,</a:t>
            </a:r>
            <a:br/>
            <a:r>
              <a:t>flight_number, departure_airport_name, departure_city,</a:t>
            </a:r>
            <a:br/>
            <a:r>
              <a:t>arrival_airport_name, arrival_city, airline_name, seat_numbers, ticket_price).</a:t>
            </a:r>
            <a:br/>
            <a:br/>
            <a:r>
              <a:t>The relation violates First Normal Form (1NF) because seat_numbers can contain</a:t>
            </a:r>
            <a:br/>
            <a:r>
              <a:t>several values in one cell, for example "12A, 12B".</a:t>
            </a:r>
            <a:br/>
            <a:br/>
            <a:r>
              <a:t>A 1NF attribute must contain one atomic value.</a:t>
            </a:r>
            <a:br/>
            <a:r>
              <a:t>Since the relation is not in 1NF, it cannot be in 2NF or 3NF either.</a:t>
            </a:r>
            <a:br/>
            <a:br/>
            <a:r>
              <a:t>Problematic column: seat_numbers.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latin typeface="Arial"/>
              </a:defRPr>
            </a:pPr>
            <a:r>
              <a:t>Tasks 2 and 3. Normalization and Functional 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143000"/>
            <a:ext cx="107899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latin typeface="Arial"/>
              </a:defRPr>
            </a:pPr>
            <a:r>
              <a:t>Functional dependencies:</a:t>
            </a:r>
            <a:br/>
            <a:br/>
            <a:r>
              <a:t>booking_id -&gt; flight_number, ticket_price</a:t>
            </a:r>
            <a:br/>
            <a:r>
              <a:t>flight_number -&gt; departure_airport_name, arrival_airport_name, airline_name</a:t>
            </a:r>
            <a:br/>
            <a:r>
              <a:t>departure_airport_name -&gt; departure_city</a:t>
            </a:r>
            <a:br/>
            <a:r>
              <a:t>arrival_airport_name -&gt; arrival_city</a:t>
            </a:r>
            <a:br/>
            <a:r>
              <a:t>passenger_passport_number -&gt; passenger_full_name</a:t>
            </a:r>
            <a:br/>
            <a:r>
              <a:t>(booking_id, passenger_passport_number) -&gt; seat_number</a:t>
            </a:r>
            <a:br/>
            <a:br/>
            <a:r>
              <a:t>1NF:</a:t>
            </a:r>
            <a:br/>
            <a:r>
              <a:t>Booking_receipt_1NF</a:t>
            </a:r>
            <a:br/>
            <a:r>
              <a:t>Primary key: (booking_id, passenger_passport_number)</a:t>
            </a:r>
            <a:br/>
            <a:br/>
            <a:r>
              <a:t>2NF:</a:t>
            </a:r>
            <a:br/>
            <a:r>
              <a:t>Booking_2NF</a:t>
            </a:r>
            <a:br/>
            <a:r>
              <a:t>Passenger_2NF</a:t>
            </a:r>
            <a:br/>
            <a:r>
              <a:t>Booking_passenger_2NF</a:t>
            </a:r>
            <a:br/>
            <a:br/>
            <a:r>
              <a:t>3NF:</a:t>
            </a:r>
            <a:br/>
            <a:r>
              <a:t>Passenger</a:t>
            </a:r>
            <a:br/>
            <a:r>
              <a:t>Airport</a:t>
            </a:r>
            <a:br/>
            <a:r>
              <a:t>Airline</a:t>
            </a:r>
            <a:br/>
            <a:r>
              <a:t>Flight</a:t>
            </a:r>
            <a:br/>
            <a:r>
              <a:t>Booking</a:t>
            </a:r>
            <a:br/>
            <a:r>
              <a:t>Booking_passenger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latin typeface="Arial"/>
              </a:defRPr>
            </a:pPr>
            <a:r>
              <a:t>Task 4. 3NF Verification for Flights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097280"/>
            <a:ext cx="7498079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50" b="0">
                <a:latin typeface="Arial"/>
              </a:defRPr>
            </a:pPr>
            <a:r>
              <a:t>Current primary key: flight_id.</a:t>
            </a:r>
            <a:br/>
            <a:br/>
            <a:r>
              <a:t>Functional dependency:</a:t>
            </a:r>
            <a:br/>
            <a:r>
              <a:t>flight_id -&gt; sch_departure_time, sch_arrival_time,</a:t>
            </a:r>
            <a:br/>
            <a:r>
              <a:t>departing_airport_id, arriving_airport_id, departing_gate,</a:t>
            </a:r>
            <a:br/>
            <a:r>
              <a:t>arriving_gate, airline_id, act_departure_time,</a:t>
            </a:r>
            <a:br/>
            <a:r>
              <a:t>act_arrival_time, created_at, updated_at.</a:t>
            </a:r>
            <a:br/>
            <a:br/>
            <a:r>
              <a:t>The Flights table is in 3NF. Its primary key has one attribute,</a:t>
            </a:r>
            <a:br/>
            <a:r>
              <a:t>so partial dependencies are impossible.</a:t>
            </a:r>
            <a:br/>
            <a:br/>
            <a:r>
              <a:t>departing_airport_id, arriving_airport_id and airline_id are</a:t>
            </a:r>
            <a:br/>
            <a:r>
              <a:t>foreign keys. Airport and Airline details are stored in separate tables,</a:t>
            </a:r>
            <a:br/>
            <a:r>
              <a:t>so there is no transitive dependency between non-key attributes inside Flights.</a:t>
            </a:r>
          </a:p>
        </p:txBody>
      </p:sp>
      <p:pic>
        <p:nvPicPr>
          <p:cNvPr id="4" name="Picture 3" descr="image(20260922-063113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0" y="1417320"/>
            <a:ext cx="3383280" cy="438912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latin typeface="Arial"/>
              </a:defRPr>
            </a:pPr>
            <a:r>
              <a:t>Task 5. CREATE TABLE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11064240" cy="5440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60" b="0">
                <a:latin typeface="Consolas"/>
              </a:defRPr>
            </a:pPr>
            <a:r>
              <a:t>CREATE TABLE lab2_passenger (</a:t>
            </a:r>
            <a:br/>
            <a:r>
              <a:t>    passport_number VARCHAR(20) PRIMARY KEY,</a:t>
            </a:r>
            <a:br/>
            <a:r>
              <a:t>    full_name VARCHAR(100) NOT NULL</a:t>
            </a:r>
            <a:br/>
            <a:r>
              <a:t>);</a:t>
            </a:r>
            <a:br/>
            <a:br/>
            <a:r>
              <a:t>CREATE TABLE lab2_airline (</a:t>
            </a:r>
            <a:br/>
            <a:r>
              <a:t>    airline_id INT PRIMARY KEY,</a:t>
            </a:r>
            <a:br/>
            <a:r>
              <a:t>    airline_name VARCHAR(50) NOT NULL</a:t>
            </a:r>
            <a:br/>
            <a:r>
              <a:t>);</a:t>
            </a:r>
            <a:br/>
            <a:br/>
            <a:r>
              <a:t>CREATE TABLE lab2_airport (</a:t>
            </a:r>
            <a:br/>
            <a:r>
              <a:t>    airport_id INT PRIMARY KEY,</a:t>
            </a:r>
            <a:br/>
            <a:r>
              <a:t>    airport_name VARCHAR(100) NOT NULL,</a:t>
            </a:r>
            <a:br/>
            <a:r>
              <a:t>    city VARCHAR(50) NOT NULL</a:t>
            </a:r>
            <a:br/>
            <a:r>
              <a:t>);</a:t>
            </a:r>
            <a:br/>
            <a:br/>
            <a:r>
              <a:t>CREATE TABLE lab2_flight (</a:t>
            </a:r>
            <a:br/>
            <a:r>
              <a:t>    flight_number VARCHAR(20) PRIMARY KEY,</a:t>
            </a:r>
            <a:br/>
            <a:r>
              <a:t>    departure_airport_id INT NOT NULL,</a:t>
            </a:r>
            <a:br/>
            <a:r>
              <a:t>    arrival_airport_id INT NOT NULL,</a:t>
            </a:r>
            <a:br/>
            <a:r>
              <a:t>    airline_id INT NOT NULL,</a:t>
            </a:r>
            <a:br/>
            <a:r>
              <a:t>    FOREIGN KEY (departure_airport_id) REFERENCES lab2_airport(airport_id),</a:t>
            </a:r>
            <a:br/>
            <a:r>
              <a:t>    FOREIGN KEY (arrival_airport_id) REFERENCES lab2_airport(airport_id),</a:t>
            </a:r>
            <a:br/>
            <a:r>
              <a:t>    FOREIGN KEY (airline_id) REFERENCES lab2_airline(airline_id)</a:t>
            </a:r>
            <a:br/>
            <a:r>
              <a:t>);</a:t>
            </a:r>
            <a:br/>
            <a:br/>
            <a:r>
              <a:t>CREATE TABLE lab2_booking (</a:t>
            </a:r>
            <a:br/>
            <a:r>
              <a:t>    booking_id INT PRIMARY KEY,</a:t>
            </a:r>
            <a:br/>
            <a:r>
              <a:t>    flight_number VARCHAR(20) NOT NULL,</a:t>
            </a:r>
            <a:br/>
            <a:r>
              <a:t>    ticket_price DECIMAL(10,2) NOT NULL,</a:t>
            </a:r>
            <a:br/>
            <a:r>
              <a:t>    FOREIGN KEY (flight_number) REFERENCES lab2_flight(flight_number)</a:t>
            </a:r>
            <a:br/>
            <a:r>
              <a:t>);</a:t>
            </a:r>
            <a:br/>
            <a:br/>
            <a:r>
              <a:t>CREATE TABLE lab2_booking_passenger (</a:t>
            </a:r>
            <a:br/>
            <a:r>
              <a:t>    booking_id INT NOT NULL,</a:t>
            </a:r>
            <a:br/>
            <a:r>
              <a:t>    passport_number VARCHAR(20) NOT NULL,</a:t>
            </a:r>
            <a:br/>
            <a:r>
              <a:t>    seat_number VARCHAR(10) NOT NULL,</a:t>
            </a:r>
            <a:br/>
            <a:r>
              <a:t>    PRIMARY KEY (booking_id, passport_number),</a:t>
            </a:r>
            <a:br/>
            <a:r>
              <a:t>    FOREIGN KEY (booking_id) REFERENCES lab2_booking(booking_id),</a:t>
            </a:r>
            <a:br/>
            <a:r>
              <a:t>    FOREIGN KEY (passport_number) REFERENCES lab2_passenger(passport_number)</a:t>
            </a:r>
            <a:br/>
            <a:r>
              <a:t>);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latin typeface="Arial"/>
              </a:defRPr>
            </a:pPr>
            <a:r>
              <a:t>Task 5. Normalized Tables</a:t>
            </a:r>
          </a:p>
        </p:txBody>
      </p:sp>
      <p:pic>
        <p:nvPicPr>
          <p:cNvPr id="3" name="Picture 2" descr="Снимок экрана 2026-09-22 12345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097280"/>
            <a:ext cx="5486400" cy="2514600"/>
          </a:xfrm>
          <a:prstGeom prst="rect">
            <a:avLst/>
          </a:prstGeom>
        </p:spPr>
      </p:pic>
      <p:pic>
        <p:nvPicPr>
          <p:cNvPr id="4" name="Picture 3" descr="Снимок экрана 2026-09-22 12352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1097280"/>
            <a:ext cx="5486400" cy="25146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latin typeface="Arial"/>
              </a:defRPr>
            </a:pPr>
            <a:r>
              <a:t>Task 5. Normalized Tables</a:t>
            </a:r>
          </a:p>
        </p:txBody>
      </p:sp>
      <p:pic>
        <p:nvPicPr>
          <p:cNvPr id="3" name="Picture 2" descr="Снимок экрана 2026-09-22 12354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097280"/>
            <a:ext cx="5486400" cy="2514600"/>
          </a:xfrm>
          <a:prstGeom prst="rect">
            <a:avLst/>
          </a:prstGeom>
        </p:spPr>
      </p:pic>
      <p:pic>
        <p:nvPicPr>
          <p:cNvPr id="4" name="Picture 3" descr="Снимок экрана 2026-09-22 12360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1097280"/>
            <a:ext cx="5486400" cy="25146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latin typeface="Arial"/>
              </a:defRPr>
            </a:pPr>
            <a:r>
              <a:t>Task 5. Normalized Tables</a:t>
            </a:r>
          </a:p>
        </p:txBody>
      </p:sp>
      <p:pic>
        <p:nvPicPr>
          <p:cNvPr id="3" name="Picture 2" descr="Снимок экрана 2026-09-22 12362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097280"/>
            <a:ext cx="5486400" cy="2514600"/>
          </a:xfrm>
          <a:prstGeom prst="rect">
            <a:avLst/>
          </a:prstGeom>
        </p:spPr>
      </p:pic>
      <p:pic>
        <p:nvPicPr>
          <p:cNvPr id="4" name="Picture 3" descr="Снимок экрана 2026-09-22 12363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1097280"/>
            <a:ext cx="5486400" cy="25146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latin typeface="Arial"/>
              </a:defRPr>
            </a:pPr>
            <a:r>
              <a:t>DDL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51560"/>
            <a:ext cx="46634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latin typeface="Arial"/>
              </a:defRPr>
            </a:pPr>
            <a:r>
              <a:t>The required DDL tables were created in PostgreSQL.</a:t>
            </a:r>
            <a:br/>
            <a:br/>
            <a:r>
              <a:t>ALTER TABLE operations:</a:t>
            </a:r>
            <a:br/>
            <a:r>
              <a:t>airline_info -&gt; airline</a:t>
            </a:r>
            <a:br/>
            <a:r>
              <a:t>price -&gt; ticket_price</a:t>
            </a:r>
            <a:br/>
            <a:r>
              <a:t>departing_gate VARCHAR(50) -&gt; TEXT</a:t>
            </a:r>
            <a:br/>
            <a:r>
              <a:t>drop info from airline</a:t>
            </a:r>
          </a:p>
        </p:txBody>
      </p:sp>
      <p:pic>
        <p:nvPicPr>
          <p:cNvPr id="4" name="Picture 3" descr="image(20260922-062621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1005840"/>
            <a:ext cx="2880360" cy="5212080"/>
          </a:xfrm>
          <a:prstGeom prst="rect">
            <a:avLst/>
          </a:prstGeom>
        </p:spPr>
      </p:pic>
      <p:pic>
        <p:nvPicPr>
          <p:cNvPr id="5" name="Picture 4" descr="image(20260922-062624)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3920" y="1005840"/>
            <a:ext cx="2880360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latin typeface="Arial"/>
              </a:defRPr>
            </a:pPr>
            <a:r>
              <a:t>Foreign Key Relationships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latin typeface="Arial"/>
              </a:defRPr>
            </a:pPr>
            <a:r>
              <a:t>Passengers:</a:t>
            </a:r>
            <a:br/>
            <a:r>
              <a:t>Security_check, Booking, Baggage_check</a:t>
            </a:r>
            <a:br/>
            <a:br/>
            <a:r>
              <a:t>Booking:</a:t>
            </a:r>
            <a:br/>
            <a:r>
              <a:t>Baggage_check, Baggage, Boarding_pass, Booking_flight</a:t>
            </a:r>
            <a:br/>
            <a:br/>
            <a:r>
              <a:t>Flights:</a:t>
            </a:r>
            <a:br/>
            <a:r>
              <a:t>Booking_flight</a:t>
            </a:r>
            <a:br/>
            <a:br/>
            <a:r>
              <a:t>Airport:</a:t>
            </a:r>
            <a:br/>
            <a:r>
              <a:t>Flights (departing_airport_id, arriving_airport_id)</a:t>
            </a:r>
            <a:br/>
            <a:br/>
            <a:r>
              <a:t>Airline:</a:t>
            </a:r>
            <a:br/>
            <a:r>
              <a:t>Flights (airline_id)</a:t>
            </a:r>
          </a:p>
        </p:txBody>
      </p:sp>
      <p:pic>
        <p:nvPicPr>
          <p:cNvPr id="4" name="Picture 3" descr="image(20260922-063113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1097280"/>
            <a:ext cx="5760720" cy="466344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